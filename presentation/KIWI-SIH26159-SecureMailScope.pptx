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943129"/>
            <a:ext cx="8534400" cy="1752600"/>
          </a:xfrm>
        </p:spPr>
        <p:txBody>
          <a:bodyPr wrap="square"/>
          <a:lstStyle/>
          <a:p>
            <a:r>
              <a:rPr sz="3000" b="1" i="0" dirty="0">
                <a:solidFill>
                  <a:schemeClr val="tx1"/>
                </a:solidFill>
                <a:latin typeface="Times New Roman"/>
              </a:rPr>
              <a:t>KIWI  ·  </a:t>
            </a:r>
            <a:r>
              <a:rPr sz="3000" b="1" i="0" dirty="0" err="1">
                <a:solidFill>
                  <a:schemeClr val="tx1"/>
                </a:solidFill>
                <a:latin typeface="Times New Roman"/>
              </a:rPr>
              <a:t>SecureMailScope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14046D-CCBC-ECE7-3116-364A76BCC745}"/>
              </a:ext>
            </a:extLst>
          </p:cNvPr>
          <p:cNvSpPr txBox="1"/>
          <p:nvPr/>
        </p:nvSpPr>
        <p:spPr>
          <a:xfrm>
            <a:off x="-231278" y="2167460"/>
            <a:ext cx="7826829" cy="4075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85030" lvl="1" indent="-292515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latin typeface="Arial" panose="020B0604020202020204" pitchFamily="34" charset="0"/>
                <a:ea typeface="League Spartan"/>
                <a:cs typeface="Arial" panose="020B0604020202020204" pitchFamily="34" charset="0"/>
                <a:sym typeface="League Spartan"/>
              </a:rPr>
              <a:t>Problem Statement ID – SIH26159</a:t>
            </a:r>
          </a:p>
          <a:p>
            <a:pPr marL="585030" lvl="1" indent="-292515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latin typeface="Arial" panose="020B0604020202020204" pitchFamily="34" charset="0"/>
                <a:ea typeface="League Spartan"/>
                <a:cs typeface="Arial" panose="020B0604020202020204" pitchFamily="34" charset="0"/>
                <a:sym typeface="League Spartan"/>
              </a:rPr>
              <a:t>Problem Statement Title </a:t>
            </a:r>
            <a:r>
              <a:rPr lang="en-US" b="1" dirty="0">
                <a:latin typeface="Arial" panose="020B0604020202020204" pitchFamily="34" charset="0"/>
                <a:ea typeface="League Spartan"/>
                <a:cs typeface="Arial" panose="020B0604020202020204" pitchFamily="34" charset="0"/>
                <a:sym typeface="League Spartan"/>
              </a:rPr>
              <a:t>- </a:t>
            </a:r>
            <a:r>
              <a:rPr lang="en-IN" sz="2000" dirty="0" err="1"/>
              <a:t>SecureMailScope</a:t>
            </a:r>
            <a:r>
              <a:rPr lang="en-IN" sz="2000" dirty="0"/>
              <a:t>: AI-Assisted Cryptographic Security Posture Assessment for Secure Email Communications</a:t>
            </a:r>
            <a:endParaRPr lang="en-US" b="1" dirty="0">
              <a:latin typeface="Arial" panose="020B0604020202020204" pitchFamily="34" charset="0"/>
              <a:ea typeface="League Spartan"/>
              <a:cs typeface="Arial" panose="020B0604020202020204" pitchFamily="34" charset="0"/>
              <a:sym typeface="League Spartan"/>
            </a:endParaRPr>
          </a:p>
          <a:p>
            <a:pPr marL="585030" lvl="1" indent="-292515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latin typeface="Arial" panose="020B0604020202020204" pitchFamily="34" charset="0"/>
                <a:ea typeface="League Spartan"/>
                <a:cs typeface="Arial" panose="020B0604020202020204" pitchFamily="34" charset="0"/>
                <a:sym typeface="League Spartan"/>
              </a:rPr>
              <a:t>Theme - </a:t>
            </a:r>
            <a:r>
              <a:rPr lang="en-IN" sz="2000" b="1" dirty="0"/>
              <a:t>Blockchain &amp; Cybersecurity</a:t>
            </a:r>
            <a:endParaRPr lang="en-US" sz="2400" b="1" dirty="0">
              <a:latin typeface="Arial" panose="020B0604020202020204" pitchFamily="34" charset="0"/>
              <a:ea typeface="League Spartan"/>
              <a:cs typeface="Arial" panose="020B0604020202020204" pitchFamily="34" charset="0"/>
              <a:sym typeface="League Spartan"/>
            </a:endParaRPr>
          </a:p>
          <a:p>
            <a:pPr marL="585030" lvl="1" indent="-292515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latin typeface="Arial" panose="020B0604020202020204" pitchFamily="34" charset="0"/>
                <a:ea typeface="League Spartan"/>
                <a:cs typeface="Arial" panose="020B0604020202020204" pitchFamily="34" charset="0"/>
                <a:sym typeface="League Spartan"/>
              </a:rPr>
              <a:t>PS Category - Software</a:t>
            </a:r>
          </a:p>
          <a:p>
            <a:pPr marL="585030" lvl="1" indent="-292515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latin typeface="Arial" panose="020B0604020202020204" pitchFamily="34" charset="0"/>
                <a:ea typeface="League Spartan"/>
                <a:cs typeface="Arial" panose="020B0604020202020204" pitchFamily="34" charset="0"/>
                <a:sym typeface="League Spartan"/>
              </a:rPr>
              <a:t>Team ID -</a:t>
            </a:r>
          </a:p>
          <a:p>
            <a:pPr marL="585030" lvl="1" indent="-292515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latin typeface="Arial" panose="020B0604020202020204" pitchFamily="34" charset="0"/>
                <a:ea typeface="League Spartan"/>
                <a:cs typeface="Arial" panose="020B0604020202020204" pitchFamily="34" charset="0"/>
                <a:sym typeface="League Spartan"/>
              </a:rPr>
              <a:t>Team Name - </a:t>
            </a:r>
            <a:r>
              <a:rPr lang="en-US" sz="2000" b="1" dirty="0" err="1">
                <a:latin typeface="Arial" panose="020B0604020202020204" pitchFamily="34" charset="0"/>
                <a:ea typeface="League Spartan"/>
                <a:cs typeface="Arial" panose="020B0604020202020204" pitchFamily="34" charset="0"/>
                <a:sym typeface="League Spartan"/>
              </a:rPr>
              <a:t>Overfitters</a:t>
            </a:r>
            <a:endParaRPr lang="en-US" sz="2000" b="1" dirty="0">
              <a:latin typeface="Arial" panose="020B0604020202020204" pitchFamily="34" charset="0"/>
              <a:ea typeface="League Spartan"/>
              <a:cs typeface="Arial" panose="020B0604020202020204" pitchFamily="34" charset="0"/>
              <a:sym typeface="League Spartan"/>
            </a:endParaRPr>
          </a:p>
          <a:p>
            <a:pPr>
              <a:lnSpc>
                <a:spcPct val="150000"/>
              </a:lnSpc>
            </a:pPr>
            <a:endParaRPr lang="en-IN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0784" y="252246"/>
            <a:ext cx="18546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Overfitters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5" name="Picture 15364" descr="mai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654" y="1320023"/>
            <a:ext cx="6062562" cy="4607010"/>
          </a:xfrm>
          <a:prstGeom prst="rect">
            <a:avLst/>
          </a:prstGeom>
          <a:ln w="12700">
            <a:solidFill>
              <a:srgbClr val="C9DCD0"/>
            </a:solidFill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B31F05-99FE-0D52-7238-EDFA2EEBF19D}"/>
              </a:ext>
            </a:extLst>
          </p:cNvPr>
          <p:cNvSpPr txBox="1"/>
          <p:nvPr/>
        </p:nvSpPr>
        <p:spPr>
          <a:xfrm>
            <a:off x="2016691" y="754182"/>
            <a:ext cx="834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chemeClr val="accent1"/>
                </a:solidFill>
                <a:latin typeface="Arial"/>
              </a:rPr>
              <a:t>Mail client with Passive PCAP forensics + endpoint TLS evidence for SMTP · IMAP · POP3</a:t>
            </a:r>
            <a:endParaRPr lang="en-IN" sz="1600" dirty="0">
              <a:solidFill>
                <a:schemeClr val="accent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F0DCB1-138A-28FB-4B48-EBA1C0ED9606}"/>
              </a:ext>
            </a:extLst>
          </p:cNvPr>
          <p:cNvSpPr txBox="1"/>
          <p:nvPr/>
        </p:nvSpPr>
        <p:spPr>
          <a:xfrm>
            <a:off x="4472298" y="-11957"/>
            <a:ext cx="28521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 Rounded MT Bold" panose="020F0704030504030204" pitchFamily="34" charset="0"/>
              </a:rPr>
              <a:t>Kiwi Mail</a:t>
            </a:r>
            <a:endParaRPr lang="en-IN" sz="4800" dirty="0">
              <a:latin typeface="Arial Rounded MT Bold" panose="020F070403050403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A303444-8C89-00A2-EEB4-638BCBFBBBCC}"/>
              </a:ext>
            </a:extLst>
          </p:cNvPr>
          <p:cNvSpPr/>
          <p:nvPr/>
        </p:nvSpPr>
        <p:spPr>
          <a:xfrm>
            <a:off x="6048654" y="1320023"/>
            <a:ext cx="6062562" cy="460701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71" name="TextBox 15370">
            <a:extLst>
              <a:ext uri="{FF2B5EF4-FFF2-40B4-BE49-F238E27FC236}">
                <a16:creationId xmlns:a16="http://schemas.microsoft.com/office/drawing/2014/main" id="{31C5B069-B254-E0E3-84ED-29CD17CC24DF}"/>
              </a:ext>
            </a:extLst>
          </p:cNvPr>
          <p:cNvSpPr txBox="1"/>
          <p:nvPr/>
        </p:nvSpPr>
        <p:spPr>
          <a:xfrm>
            <a:off x="80784" y="2780399"/>
            <a:ext cx="5867861" cy="371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1600" b="1" dirty="0">
                <a:solidFill>
                  <a:srgbClr val="1E8E3E"/>
                </a:solidFill>
                <a:latin typeface="Arial"/>
              </a:rPr>
              <a:t>▪ </a:t>
            </a:r>
            <a:r>
              <a:rPr lang="en-US" b="1" dirty="0">
                <a:solidFill>
                  <a:schemeClr val="accent1"/>
                </a:solidFill>
                <a:latin typeface="Arial"/>
              </a:rPr>
              <a:t>Proposed solution </a:t>
            </a:r>
            <a:r>
              <a:rPr lang="en-US" sz="1600" b="1" dirty="0">
                <a:solidFill>
                  <a:srgbClr val="146A2E"/>
                </a:solidFill>
                <a:latin typeface="Arial"/>
              </a:rPr>
              <a:t>— </a:t>
            </a:r>
            <a:r>
              <a:rPr lang="en-US" sz="1600" dirty="0">
                <a:solidFill>
                  <a:srgbClr val="10231A"/>
                </a:solidFill>
                <a:latin typeface="Arial"/>
              </a:rPr>
              <a:t>a passive forensic engine that ingests PCAP, rebuilds SMTP/IMAP/POP3 sessions and TLS handshakes, validates certificates, then scores the cryptographic posture.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1600" b="1" dirty="0">
                <a:solidFill>
                  <a:srgbClr val="1E8E3E"/>
                </a:solidFill>
                <a:latin typeface="Arial"/>
              </a:rPr>
              <a:t>▪ </a:t>
            </a:r>
            <a:r>
              <a:rPr lang="en-US" b="1" dirty="0">
                <a:solidFill>
                  <a:schemeClr val="accent1"/>
                </a:solidFill>
                <a:latin typeface="Arial"/>
              </a:rPr>
              <a:t>How it addresses the problem </a:t>
            </a:r>
            <a:r>
              <a:rPr lang="en-US" sz="1600" b="1" dirty="0">
                <a:solidFill>
                  <a:srgbClr val="146A2E"/>
                </a:solidFill>
                <a:latin typeface="Arial"/>
              </a:rPr>
              <a:t>— </a:t>
            </a:r>
            <a:r>
              <a:rPr lang="en-US" sz="1600" dirty="0">
                <a:solidFill>
                  <a:srgbClr val="10231A"/>
                </a:solidFill>
                <a:latin typeface="Arial"/>
              </a:rPr>
              <a:t>deterministic rules flag weak TLS, broken STARTTLS and bad certs; an AI layer classifies risk, spots anomalous handshakes and recommends fixes — it explains, it never asserts.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1600" b="1" dirty="0">
                <a:solidFill>
                  <a:srgbClr val="1E8E3E"/>
                </a:solidFill>
                <a:latin typeface="Arial"/>
              </a:rPr>
              <a:t>▪ </a:t>
            </a:r>
            <a:r>
              <a:rPr lang="en-US" b="1" dirty="0">
                <a:solidFill>
                  <a:schemeClr val="accent1"/>
                </a:solidFill>
                <a:latin typeface="Arial"/>
              </a:rPr>
              <a:t>Innovation &amp; uniqueness </a:t>
            </a:r>
            <a:r>
              <a:rPr lang="en-US" sz="1600" b="1" dirty="0">
                <a:solidFill>
                  <a:srgbClr val="146A2E"/>
                </a:solidFill>
                <a:latin typeface="Arial"/>
              </a:rPr>
              <a:t>— </a:t>
            </a:r>
            <a:r>
              <a:rPr lang="en-US" sz="1600" dirty="0">
                <a:solidFill>
                  <a:srgbClr val="10231A"/>
                </a:solidFill>
                <a:latin typeface="Arial"/>
              </a:rPr>
              <a:t>the only entry that is also a working mail client — endpoint evidence sees what passive capture cannot (comparison below).</a:t>
            </a:r>
          </a:p>
          <a:p>
            <a:endParaRPr lang="en-IN" dirty="0"/>
          </a:p>
        </p:txBody>
      </p:sp>
      <p:sp>
        <p:nvSpPr>
          <p:cNvPr id="15372" name="Rectangle 15371">
            <a:extLst>
              <a:ext uri="{FF2B5EF4-FFF2-40B4-BE49-F238E27FC236}">
                <a16:creationId xmlns:a16="http://schemas.microsoft.com/office/drawing/2014/main" id="{011CB56D-C68B-985B-CB6D-DAD59146EC8D}"/>
              </a:ext>
            </a:extLst>
          </p:cNvPr>
          <p:cNvSpPr/>
          <p:nvPr/>
        </p:nvSpPr>
        <p:spPr>
          <a:xfrm>
            <a:off x="80784" y="1320023"/>
            <a:ext cx="5867861" cy="480852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AA99B0B-39DB-FCD9-9C58-233DDF0EE6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9" t="10091" r="5440" b="3722"/>
          <a:stretch>
            <a:fillRect/>
          </a:stretch>
        </p:blipFill>
        <p:spPr>
          <a:xfrm>
            <a:off x="2184400" y="628248"/>
            <a:ext cx="9981217" cy="591066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320844"/>
            <a:ext cx="10972800" cy="11430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0FFEDFAD-D203-1820-1FA2-8E7D409FF7E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546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Overfitters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C815896-9946-F5AC-D737-B4082701E0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908" t="15660" r="3426" b="25897"/>
          <a:stretch>
            <a:fillRect/>
          </a:stretch>
        </p:blipFill>
        <p:spPr>
          <a:xfrm>
            <a:off x="148345" y="1368081"/>
            <a:ext cx="2036055" cy="4798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12648" y="111556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1">
                <a:solidFill>
                  <a:srgbClr val="5F6B66"/>
                </a:solidFill>
                <a:latin typeface="Arial"/>
              </a:rPr>
              <a:t>Analysis of the feasibility of the idea · Potential challenges and risks · Strategies for overcoming these challenges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" y="160020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1F7F3"/>
          </a:solidFill>
          <a:ln w="12700">
            <a:solidFill>
              <a:srgbClr val="C9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612648" y="1600200"/>
            <a:ext cx="3657600" cy="566928"/>
          </a:xfrm>
          <a:prstGeom prst="roundRect">
            <a:avLst>
              <a:gd name="adj" fmla="val 8000"/>
            </a:avLst>
          </a:prstGeom>
          <a:solidFill>
            <a:srgbClr val="14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795528" y="1600200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FEASIBLE — ALREADY BUILT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13816" y="2377440"/>
            <a:ext cx="329184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PCAP ingest + TCP stream reassembly in kiwi-forensics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TlsObservation capture: version, cipher, FS, cert chain, STARTTLS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Deterministic rule engine → scored, reproducible findings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Self-verifying export envelope (canonical bytes + SHA-256)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Working Tauri client + dashboard; cargo/vitest/CDP CI gates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407408" y="160020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1F7F3"/>
          </a:solidFill>
          <a:ln w="12700">
            <a:solidFill>
              <a:srgbClr val="C9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ounded Rectangle 17415"/>
          <p:cNvSpPr/>
          <p:nvPr/>
        </p:nvSpPr>
        <p:spPr>
          <a:xfrm>
            <a:off x="4407408" y="1600200"/>
            <a:ext cx="3657600" cy="566928"/>
          </a:xfrm>
          <a:prstGeom prst="roundRect">
            <a:avLst>
              <a:gd name="adj" fmla="val 8000"/>
            </a:avLst>
          </a:prstGeom>
          <a:solidFill>
            <a:srgbClr val="B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4590288" y="1600200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CHALLENGES &amp; RISKS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608576" y="2377440"/>
            <a:ext cx="329184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TLS 1.3 encrypts certificates — passive capture goes blind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Fragmented / out-of-order PCAP in real networks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AI must never invent findings or verdicts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Heterogeneous server stacks; STARTTLS stripping tricks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202168" y="160020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1F7F3"/>
          </a:solidFill>
          <a:ln w="12700">
            <a:solidFill>
              <a:srgbClr val="C9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8202168" y="1600200"/>
            <a:ext cx="3657600" cy="566928"/>
          </a:xfrm>
          <a:prstGeom prst="roundRect">
            <a:avLst>
              <a:gd name="adj" fmla="val 8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8385048" y="1600200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OUR MITIGATIONS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403336" y="2377440"/>
            <a:ext cx="329184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lang="en-IN" sz="1250" b="1" i="0" dirty="0">
                <a:solidFill>
                  <a:srgbClr val="1E8E3E"/>
                </a:solidFill>
                <a:latin typeface="Arial"/>
              </a:rPr>
              <a:t>▪ </a:t>
            </a:r>
            <a:r>
              <a:rPr sz="1250" b="0" i="0" dirty="0">
                <a:solidFill>
                  <a:srgbClr val="10231A"/>
                </a:solidFill>
                <a:latin typeface="Arial"/>
              </a:rPr>
              <a:t>Endpoint vantage fills the passive blind spot — hybrid model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1" i="0" dirty="0">
                <a:solidFill>
                  <a:srgbClr val="1E8E3E"/>
                </a:solidFill>
                <a:latin typeface="Arial"/>
              </a:rPr>
              <a:t>▪ </a:t>
            </a:r>
            <a:r>
              <a:rPr sz="1250" b="0" i="0" dirty="0">
                <a:solidFill>
                  <a:srgbClr val="10231A"/>
                </a:solidFill>
                <a:latin typeface="Arial"/>
              </a:rPr>
              <a:t>Robust sequencer; incomplete streams flagged, never guessed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1" i="0" dirty="0">
                <a:solidFill>
                  <a:srgbClr val="1E8E3E"/>
                </a:solidFill>
                <a:latin typeface="Arial"/>
              </a:rPr>
              <a:t>▪ </a:t>
            </a:r>
            <a:r>
              <a:rPr sz="1250" b="0" i="0" dirty="0">
                <a:solidFill>
                  <a:srgbClr val="10231A"/>
                </a:solidFill>
                <a:latin typeface="Arial"/>
              </a:rPr>
              <a:t>Rules are authoritative; AI only classifies + explains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 b="1" i="0" dirty="0">
                <a:solidFill>
                  <a:srgbClr val="1E8E3E"/>
                </a:solidFill>
                <a:latin typeface="Arial"/>
              </a:rPr>
              <a:t>▪ </a:t>
            </a:r>
            <a:r>
              <a:rPr sz="1250" b="0" i="0" dirty="0">
                <a:solidFill>
                  <a:srgbClr val="10231A"/>
                </a:solidFill>
                <a:latin typeface="Arial"/>
              </a:rPr>
              <a:t>Lab-validated vs. </a:t>
            </a:r>
            <a:r>
              <a:rPr sz="1250" b="0" i="0" dirty="0" err="1">
                <a:solidFill>
                  <a:srgbClr val="10231A"/>
                </a:solidFill>
                <a:latin typeface="Arial"/>
              </a:rPr>
              <a:t>Mailpit</a:t>
            </a:r>
            <a:r>
              <a:rPr sz="1250" b="0" i="0" dirty="0">
                <a:solidFill>
                  <a:srgbClr val="10231A"/>
                </a:solidFill>
                <a:latin typeface="Arial"/>
              </a:rPr>
              <a:t>/</a:t>
            </a:r>
            <a:r>
              <a:rPr sz="1250" b="0" i="0" dirty="0" err="1">
                <a:solidFill>
                  <a:srgbClr val="10231A"/>
                </a:solidFill>
                <a:latin typeface="Arial"/>
              </a:rPr>
              <a:t>GreenMail</a:t>
            </a:r>
            <a:r>
              <a:rPr sz="1250" b="0" i="0" dirty="0">
                <a:solidFill>
                  <a:srgbClr val="10231A"/>
                </a:solidFill>
                <a:latin typeface="Arial"/>
              </a:rPr>
              <a:t> corpora + PS dataset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12648" y="598932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146A2E"/>
                </a:solidFill>
                <a:latin typeface="Arial"/>
              </a:rPr>
              <a:t>Viable: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offline-first desktop — no licences, no cloud, deployable inside air-gapped SOCs; MPL-2.0 open source.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8B6783BD-7D28-104B-8319-1AF17DD5464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546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Overfitters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793529" y="102412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146A2E"/>
                </a:solidFill>
                <a:latin typeface="Arial"/>
              </a:rPr>
              <a:t>WHO BENEFITS — AND HOW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90073" y="1316736"/>
            <a:ext cx="6035040" cy="868680"/>
          </a:xfrm>
          <a:prstGeom prst="roundRect">
            <a:avLst>
              <a:gd name="adj" fmla="val 8000"/>
            </a:avLst>
          </a:prstGeom>
          <a:solidFill>
            <a:srgbClr val="F1F7F3"/>
          </a:solidFill>
          <a:ln w="12700">
            <a:solidFill>
              <a:srgbClr val="C9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200385" y="1408176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 i="0">
                <a:solidFill>
                  <a:srgbClr val="146A2E"/>
                </a:solidFill>
                <a:latin typeface="Arial"/>
              </a:rPr>
              <a:t>SOC / DFIR / IR teams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200385" y="1700784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10231A"/>
                </a:solidFill>
                <a:latin typeface="Arial"/>
              </a:rPr>
              <a:t>posture triage in seconds — prioritised findings instead of raw packets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990073" y="2322576"/>
            <a:ext cx="6035040" cy="868680"/>
          </a:xfrm>
          <a:prstGeom prst="roundRect">
            <a:avLst>
              <a:gd name="adj" fmla="val 8000"/>
            </a:avLst>
          </a:prstGeom>
          <a:solidFill>
            <a:srgbClr val="F1F7F3"/>
          </a:solidFill>
          <a:ln w="12700">
            <a:solidFill>
              <a:srgbClr val="C9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6200385" y="2414016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 i="0">
                <a:solidFill>
                  <a:srgbClr val="146A2E"/>
                </a:solidFill>
                <a:latin typeface="Arial"/>
              </a:rPr>
              <a:t>Govt. &amp; enterprise admins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200385" y="2706624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10231A"/>
                </a:solidFill>
                <a:latin typeface="Arial"/>
              </a:rPr>
              <a:t>concrete remediation: TLS upgrades, STARTTLS fixes, cert renewals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990073" y="3328416"/>
            <a:ext cx="6035040" cy="868680"/>
          </a:xfrm>
          <a:prstGeom prst="roundRect">
            <a:avLst>
              <a:gd name="adj" fmla="val 8000"/>
            </a:avLst>
          </a:prstGeom>
          <a:solidFill>
            <a:srgbClr val="F1F7F3"/>
          </a:solidFill>
          <a:ln w="12700">
            <a:solidFill>
              <a:srgbClr val="C9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6200385" y="3419856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 i="0">
                <a:solidFill>
                  <a:srgbClr val="146A2E"/>
                </a:solidFill>
                <a:latin typeface="Arial"/>
              </a:rPr>
              <a:t>Auditors &amp; compliance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200385" y="3712464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10231A"/>
                </a:solidFill>
                <a:latin typeface="Arial"/>
              </a:rPr>
              <a:t>tamper-evident, self-verifying reports — proof, not claims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12648" y="4892039"/>
            <a:ext cx="6035040" cy="868680"/>
          </a:xfrm>
          <a:prstGeom prst="roundRect">
            <a:avLst>
              <a:gd name="adj" fmla="val 8000"/>
            </a:avLst>
          </a:prstGeom>
          <a:solidFill>
            <a:srgbClr val="F1F7F3"/>
          </a:solidFill>
          <a:ln w="12700">
            <a:solidFill>
              <a:srgbClr val="C9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822960" y="4983479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 i="0">
                <a:solidFill>
                  <a:srgbClr val="146A2E"/>
                </a:solidFill>
                <a:latin typeface="Arial"/>
              </a:rPr>
              <a:t>India / sovereign stack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822960" y="5276087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10231A"/>
                </a:solidFill>
                <a:latin typeface="Arial"/>
              </a:rPr>
              <a:t>offline-capable MPL-2.0 tool — no vendor lock-in, no data egress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903720" y="4860782"/>
            <a:ext cx="1078992" cy="868680"/>
          </a:xfrm>
          <a:prstGeom prst="roundRect">
            <a:avLst>
              <a:gd name="adj" fmla="val 8000"/>
            </a:avLst>
          </a:prstGeom>
          <a:solidFill>
            <a:srgbClr val="10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6903720" y="4933934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000" b="1" i="0">
                <a:solidFill>
                  <a:srgbClr val="9FE6B8"/>
                </a:solidFill>
                <a:latin typeface="Arial"/>
              </a:rPr>
              <a:t>3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949440" y="5317982"/>
            <a:ext cx="9875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C9D6CE"/>
                </a:solidFill>
                <a:latin typeface="Arial"/>
              </a:rPr>
              <a:t>protocols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C9D6CE"/>
                </a:solidFill>
                <a:latin typeface="Arial"/>
              </a:rPr>
              <a:t>SMTP·IMAP·POP3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8129016" y="4860782"/>
            <a:ext cx="1078992" cy="868680"/>
          </a:xfrm>
          <a:prstGeom prst="roundRect">
            <a:avLst>
              <a:gd name="adj" fmla="val 8000"/>
            </a:avLst>
          </a:prstGeom>
          <a:solidFill>
            <a:srgbClr val="10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8129016" y="4933934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000" b="1" i="0">
                <a:solidFill>
                  <a:srgbClr val="9FE6B8"/>
                </a:solidFill>
                <a:latin typeface="Arial"/>
              </a:rPr>
              <a:t>4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8174736" y="5317982"/>
            <a:ext cx="9875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C9D6CE"/>
                </a:solidFill>
                <a:latin typeface="Arial"/>
              </a:rPr>
              <a:t>verdict tiers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C9D6CE"/>
                </a:solidFill>
                <a:latin typeface="Arial"/>
              </a:rPr>
              <a:t>allow→deny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9354312" y="4860782"/>
            <a:ext cx="1078992" cy="868680"/>
          </a:xfrm>
          <a:prstGeom prst="roundRect">
            <a:avLst>
              <a:gd name="adj" fmla="val 8000"/>
            </a:avLst>
          </a:prstGeom>
          <a:solidFill>
            <a:srgbClr val="10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9354312" y="4933934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000" b="1" i="0">
                <a:solidFill>
                  <a:srgbClr val="9FE6B8"/>
                </a:solidFill>
                <a:latin typeface="Arial"/>
              </a:rPr>
              <a:t>1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9400032" y="5317982"/>
            <a:ext cx="9875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C9D6CE"/>
                </a:solidFill>
                <a:latin typeface="Arial"/>
              </a:rPr>
              <a:t>self-verifying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C9D6CE"/>
                </a:solidFill>
                <a:latin typeface="Arial"/>
              </a:rPr>
              <a:t>forensic report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10579608" y="4860782"/>
            <a:ext cx="1078992" cy="868680"/>
          </a:xfrm>
          <a:prstGeom prst="roundRect">
            <a:avLst>
              <a:gd name="adj" fmla="val 8000"/>
            </a:avLst>
          </a:prstGeom>
          <a:solidFill>
            <a:srgbClr val="10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10579608" y="4933934"/>
            <a:ext cx="10789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000" b="1" i="0">
                <a:solidFill>
                  <a:srgbClr val="9FE6B8"/>
                </a:solidFill>
                <a:latin typeface="Arial"/>
              </a:rPr>
              <a:t>0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10625328" y="5317982"/>
            <a:ext cx="9875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C9D6CE"/>
                </a:solidFill>
                <a:latin typeface="Arial"/>
              </a:rPr>
              <a:t>fabricated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C9D6CE"/>
                </a:solidFill>
                <a:latin typeface="Arial"/>
              </a:rPr>
              <a:t>findings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7EE3B7-713B-EB90-E695-AAFDE4FCCBC4}"/>
              </a:ext>
            </a:extLst>
          </p:cNvPr>
          <p:cNvGraphicFramePr>
            <a:graphicFrameLocks noGrp="1"/>
          </p:cNvGraphicFramePr>
          <p:nvPr/>
        </p:nvGraphicFramePr>
        <p:xfrm>
          <a:off x="612648" y="4553712"/>
          <a:ext cx="11228832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</a:rPr>
                        <a:t>Capability</a:t>
                      </a:r>
                    </a:p>
                  </a:txBody>
                  <a:tcPr marL="54864" marR="54864" marT="9144" marB="9144" anchor="ctr">
                    <a:solidFill>
                      <a:srgbClr val="146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Wireshark</a:t>
                      </a:r>
                    </a:p>
                  </a:txBody>
                  <a:tcPr marL="54864" marR="54864" marT="9144" marB="9144" anchor="ctr">
                    <a:solidFill>
                      <a:srgbClr val="146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Zeek</a:t>
                      </a:r>
                    </a:p>
                  </a:txBody>
                  <a:tcPr marL="54864" marR="54864" marT="9144" marB="9144" anchor="ctr">
                    <a:solidFill>
                      <a:srgbClr val="146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SSLyze / testssl.sh</a:t>
                      </a:r>
                    </a:p>
                  </a:txBody>
                  <a:tcPr marL="54864" marR="54864" marT="9144" marB="9144" anchor="ctr">
                    <a:solidFill>
                      <a:srgbClr val="146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KIWI</a:t>
                      </a:r>
                    </a:p>
                  </a:txBody>
                  <a:tcPr marL="54864" marR="54864" marT="9144" marB="9144" anchor="ctr">
                    <a:solidFill>
                      <a:srgbClr val="146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231A"/>
                          </a:solidFill>
                          <a:latin typeface="Arial"/>
                        </a:rPr>
                        <a:t>Passive PCAP analysis — no live probing</a:t>
                      </a:r>
                    </a:p>
                  </a:txBody>
                  <a:tcPr marL="54864" marR="54864" marT="9144" marB="9144"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6A2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9144" marB="9144"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6A2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9144" marB="9144"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32D2D"/>
                          </a:solidFill>
                          <a:latin typeface="Arial"/>
                        </a:rPr>
                        <a:t>✗ active scan only</a:t>
                      </a:r>
                    </a:p>
                  </a:txBody>
                  <a:tcPr marL="54864" marR="54864" marT="9144" marB="9144"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46A2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9144" marB="9144" anchor="ctr">
                    <a:solidFill>
                      <a:srgbClr val="DDF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231A"/>
                          </a:solidFill>
                          <a:latin typeface="Arial"/>
                        </a:rPr>
                        <a:t>Email-aware: SMTP · IMAP · POP3 + STARTTLS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87A00"/>
                          </a:solidFill>
                          <a:latin typeface="Arial"/>
                        </a:rPr>
                        <a:t>~ decode only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87A00"/>
                          </a:solidFill>
                          <a:latin typeface="Arial"/>
                        </a:rPr>
                        <a:t>~ scripts needed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32D2D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46A2E"/>
                          </a:solidFill>
                          <a:latin typeface="Arial"/>
                        </a:rPr>
                        <a:t>✓ native</a:t>
                      </a:r>
                    </a:p>
                  </a:txBody>
                  <a:tcPr marL="54864" marR="54864" marT="9144" marB="9144" anchor="ctr">
                    <a:solidFill>
                      <a:srgbClr val="DDF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231A"/>
                          </a:solidFill>
                          <a:latin typeface="Arial"/>
                        </a:rPr>
                        <a:t>Auto posture score + prioritised findings</a:t>
                      </a:r>
                    </a:p>
                  </a:txBody>
                  <a:tcPr marL="54864" marR="54864" marT="9144" marB="9144"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32D2D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54864" marR="54864" marT="9144" marB="9144"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32D2D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54864" marR="54864" marT="9144" marB="9144"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87A00"/>
                          </a:solidFill>
                          <a:latin typeface="Arial"/>
                        </a:rPr>
                        <a:t>~ grade only</a:t>
                      </a:r>
                    </a:p>
                  </a:txBody>
                  <a:tcPr marL="54864" marR="54864" marT="9144" marB="9144"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46A2E"/>
                          </a:solidFill>
                          <a:latin typeface="Arial"/>
                        </a:rPr>
                        <a:t>✓ rule-based score</a:t>
                      </a:r>
                    </a:p>
                  </a:txBody>
                  <a:tcPr marL="54864" marR="54864" marT="9144" marB="9144" anchor="ctr">
                    <a:solidFill>
                      <a:srgbClr val="DDF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231A"/>
                          </a:solidFill>
                          <a:latin typeface="Arial"/>
                        </a:rPr>
                        <a:t>AI risk classification + anomaly detection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32D2D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32D2D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32D2D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46A2E"/>
                          </a:solidFill>
                          <a:latin typeface="Arial"/>
                        </a:rPr>
                        <a:t>✓ explains, never asserts</a:t>
                      </a:r>
                    </a:p>
                  </a:txBody>
                  <a:tcPr marL="54864" marR="54864" marT="9144" marB="9144" anchor="ctr">
                    <a:solidFill>
                      <a:srgbClr val="DDF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231A"/>
                          </a:solidFill>
                          <a:latin typeface="Arial"/>
                        </a:rPr>
                        <a:t>Endpoint vantage + self-verifying report</a:t>
                      </a:r>
                    </a:p>
                  </a:txBody>
                  <a:tcPr marL="54864" marR="54864" marT="9144" marB="9144"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32D2D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54864" marR="54864" marT="9144" marB="9144"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32D2D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54864" marR="54864" marT="9144" marB="9144"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32D2D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54864" marR="54864" marT="9144" marB="9144"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46A2E"/>
                          </a:solidFill>
                          <a:latin typeface="Arial"/>
                        </a:rPr>
                        <a:t>✓ SHA-256 envelope</a:t>
                      </a:r>
                    </a:p>
                  </a:txBody>
                  <a:tcPr marL="54864" marR="54864" marT="9144" marB="9144" anchor="ctr">
                    <a:solidFill>
                      <a:srgbClr val="DDF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143366F1-1546-EF85-1797-AD0884C6D18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546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Overfitters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12648" y="111556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1">
                <a:solidFill>
                  <a:srgbClr val="5F6B66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612648" y="1554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146A2E"/>
                </a:solidFill>
                <a:latin typeface="Arial"/>
              </a:rPr>
              <a:t>STANDARDS &amp; GUIDANCE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12648" y="1920240"/>
            <a:ext cx="54864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1" i="0">
                <a:solidFill>
                  <a:srgbClr val="146A2E"/>
                </a:solidFill>
                <a:latin typeface="Arial"/>
              </a:rPr>
              <a:t>RFC 3207 / 2595 —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SMTP &amp; IMAP STARTTLS negotiation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1" i="0">
                <a:solidFill>
                  <a:srgbClr val="146A2E"/>
                </a:solidFill>
                <a:latin typeface="Arial"/>
              </a:rPr>
              <a:t>RFC 8314 —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cleartext mail deprecated — implicit TLS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1" i="0">
                <a:solidFill>
                  <a:srgbClr val="146A2E"/>
                </a:solidFill>
                <a:latin typeface="Arial"/>
              </a:rPr>
              <a:t>RFC 8461 / 8996 —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MTA-STS · TLS 1.0/1.1 deprecated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1" i="0">
                <a:solidFill>
                  <a:srgbClr val="146A2E"/>
                </a:solidFill>
                <a:latin typeface="Arial"/>
              </a:rPr>
              <a:t>NIST SP 800-52r2 —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TLS configuration guidelines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1" i="0">
                <a:solidFill>
                  <a:srgbClr val="146A2E"/>
                </a:solidFill>
                <a:latin typeface="Arial"/>
              </a:rPr>
              <a:t>CA/B Forum BRs —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certificate validation baseline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1" i="0">
                <a:solidFill>
                  <a:srgbClr val="146A2E"/>
                </a:solidFill>
                <a:latin typeface="Arial"/>
              </a:rPr>
              <a:t>MITRE ATT&amp;CK —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T1040 sniffing · T1557 adversary-in-the-middle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492240" y="15544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146A2E"/>
                </a:solidFill>
                <a:latin typeface="Arial"/>
              </a:rPr>
              <a:t>BASELINES &amp; PROJECT EVIDENCE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492240" y="1920240"/>
            <a:ext cx="512064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1" i="0">
                <a:solidFill>
                  <a:srgbClr val="146A2E"/>
                </a:solidFill>
                <a:latin typeface="Arial"/>
              </a:rPr>
              <a:t>Wireshark · Zeek —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packet tooling baseline — decode, no posture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1" i="0">
                <a:solidFill>
                  <a:srgbClr val="146A2E"/>
                </a:solidFill>
                <a:latin typeface="Arial"/>
              </a:rPr>
              <a:t>SSLyze · testssl.sh —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active-scan baseline compared in slide 2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1" i="0">
                <a:solidFill>
                  <a:srgbClr val="146A2E"/>
                </a:solidFill>
                <a:latin typeface="Arial"/>
              </a:rPr>
              <a:t>SIH26159 dataset —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attached synthetic PCAP corpus for validation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1" i="0">
                <a:solidFill>
                  <a:srgbClr val="146A2E"/>
                </a:solidFill>
                <a:latin typeface="Arial"/>
              </a:rPr>
              <a:t>KIWI repo —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docs/contracts/forensics.md — FSV-1 report vocabulary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1E8E3E"/>
                </a:solidFill>
                <a:latin typeface="Arial"/>
              </a:rPr>
              <a:t>▪ </a:t>
            </a:r>
            <a:r>
              <a:rPr sz="1250" b="1" i="0">
                <a:solidFill>
                  <a:srgbClr val="146A2E"/>
                </a:solidFill>
                <a:latin typeface="Arial"/>
              </a:rPr>
              <a:t>Working prototype — </a:t>
            </a:r>
            <a:r>
              <a:rPr sz="1250" b="0" i="0">
                <a:solidFill>
                  <a:srgbClr val="10231A"/>
                </a:solidFill>
                <a:latin typeface="Arial"/>
              </a:rPr>
              <a:t>10-crate Rust workspace, CI-gated, ~30 MB binary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2648" y="4846320"/>
            <a:ext cx="11228832" cy="1188720"/>
          </a:xfrm>
          <a:prstGeom prst="roundRect">
            <a:avLst>
              <a:gd name="adj" fmla="val 8000"/>
            </a:avLst>
          </a:prstGeom>
          <a:solidFill>
            <a:srgbClr val="10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914400" y="504748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9FE6B8"/>
                </a:solidFill>
                <a:latin typeface="Arial"/>
              </a:rPr>
              <a:t>KIWI doesn't ask you to trust it — it shows you the evidence.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C9D6CE"/>
                </a:solidFill>
                <a:latin typeface="Arial"/>
              </a:rPr>
              <a:t>Every claim in this deck is verifiable in the repo: deterministic capture, rule-based scoring, hash-chained audit, self-verifying exports.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8EC7EF17-58B6-201F-EFE1-449AF578569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546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Overfitters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7611</TotalTime>
  <Words>718</Words>
  <Application>Microsoft Office PowerPoint</Application>
  <PresentationFormat>Widescreen</PresentationFormat>
  <Paragraphs>119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Arial Rounded MT Bold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vaibhavsharma040506@outlook.com</cp:lastModifiedBy>
  <cp:revision>150</cp:revision>
  <dcterms:created xsi:type="dcterms:W3CDTF">2013-12-12T18:46:50Z</dcterms:created>
  <dcterms:modified xsi:type="dcterms:W3CDTF">2026-09-30T12:06:48Z</dcterms:modified>
  <cp:category/>
</cp:coreProperties>
</file>