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600" b="1" i="0">
                <a:solidFill>
                  <a:srgbClr val="FFFFFF"/>
                </a:solidFill>
                <a:latin typeface="Segoe UI"/>
              </a:rPr>
              <a:t>KIWI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8346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200" b="0" i="0">
                <a:solidFill>
                  <a:srgbClr val="9FE6B8"/>
                </a:solidFill>
                <a:latin typeface="Segoe UI"/>
              </a:rPr>
              <a:t>Email that proves its security.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9692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900" b="0" i="0">
                <a:solidFill>
                  <a:srgbClr val="C9D6CE"/>
                </a:solidFill>
                <a:latin typeface="Segoe UI"/>
              </a:rPr>
              <a:t>A full desktop mail client and a security platform in one product —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900" b="0" i="0">
                <a:solidFill>
                  <a:srgbClr val="C9D6CE"/>
                </a:solidFill>
                <a:latin typeface="Segoe UI"/>
              </a:rPr>
              <a:t>built from scratch on Rust + Tauri 2. Every claim backed by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900" b="0" i="0">
                <a:solidFill>
                  <a:srgbClr val="C9D6CE"/>
                </a:solidFill>
                <a:latin typeface="Segoe UI"/>
              </a:rPr>
              <a:t>deterministic, tamper-evident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852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 i="0">
                <a:solidFill>
                  <a:srgbClr val="8B9990"/>
                </a:solidFill>
                <a:latin typeface="Segoe UI"/>
              </a:rPr>
              <a:t>hackathon build · MPL-2.0 · alpha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146304" cy="65836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 i="0">
                <a:solidFill>
                  <a:srgbClr val="146A2E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400" b="1" i="0">
                <a:solidFill>
                  <a:srgbClr val="10231A"/>
                </a:solidFill>
                <a:latin typeface="Segoe UI"/>
              </a:rPr>
              <a:t>“This connection was encrypted.” — says who?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6492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600"/>
              </a:spcAft>
            </a:pPr>
            <a:r>
              <a:rPr sz="180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800" b="1" i="0">
                <a:solidFill>
                  <a:srgbClr val="10231A"/>
                </a:solidFill>
                <a:latin typeface="Segoe UI"/>
              </a:rPr>
              <a:t>Trust without evidence. </a:t>
            </a:r>
            <a:r>
              <a:rPr sz="1800" b="0" i="0">
                <a:solidFill>
                  <a:srgbClr val="10231A"/>
                </a:solidFill>
                <a:latin typeface="Segoe UI"/>
              </a:rPr>
              <a:t>Every day we click links, open attachments, and hand our inbox credentials, contracts, and conversations — and no mainstream client can prove it did the secure thing.</a:t>
            </a:r>
          </a:p>
          <a:p>
            <a:pPr algn="l">
              <a:lnSpc>
                <a:spcPct val="106000"/>
              </a:lnSpc>
              <a:spcAft>
                <a:spcPts val="1600"/>
              </a:spcAft>
            </a:pPr>
            <a:r>
              <a:rPr sz="180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800" b="1" i="0">
                <a:solidFill>
                  <a:srgbClr val="10231A"/>
                </a:solidFill>
                <a:latin typeface="Segoe UI"/>
              </a:rPr>
              <a:t>Indicators that lie. </a:t>
            </a:r>
            <a:r>
              <a:rPr sz="1800" b="0" i="0">
                <a:solidFill>
                  <a:srgbClr val="10231A"/>
                </a:solidFill>
                <a:latin typeface="Segoe UI"/>
              </a:rPr>
              <a:t>Green checkmarks get painted from assumptions; when the evidence isn't there, most clients show it anyway — or invent scareware.</a:t>
            </a:r>
          </a:p>
          <a:p>
            <a:pPr algn="l">
              <a:lnSpc>
                <a:spcPct val="106000"/>
              </a:lnSpc>
              <a:spcAft>
                <a:spcPts val="1600"/>
              </a:spcAft>
            </a:pPr>
            <a:r>
              <a:rPr sz="180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800" b="1" i="0">
                <a:solidFill>
                  <a:srgbClr val="10231A"/>
                </a:solidFill>
                <a:latin typeface="Segoe UI"/>
              </a:rPr>
              <a:t>Nothing to check later. </a:t>
            </a:r>
            <a:r>
              <a:rPr sz="1800" b="0" i="0">
                <a:solidFill>
                  <a:srgbClr val="10231A"/>
                </a:solidFill>
                <a:latin typeface="Segoe UI"/>
              </a:rPr>
              <a:t>No record of what actually happened on the wire — no TLS facts, no DNS verdicts, no audit trail to stand behind a claim.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828800"/>
            <a:ext cx="3886200" cy="4114800"/>
          </a:xfrm>
          <a:prstGeom prst="roundRect">
            <a:avLst>
              <a:gd name="adj" fmla="val 6000"/>
            </a:avLst>
          </a:prstGeom>
          <a:solidFill>
            <a:srgbClr val="F1F7F3"/>
          </a:solidFill>
          <a:ln w="12700">
            <a:solidFill>
              <a:srgbClr val="D5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21488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000" b="1" i="0">
                <a:solidFill>
                  <a:srgbClr val="146A2E"/>
                </a:solidFill>
                <a:latin typeface="Segoe UI"/>
              </a:rPr>
              <a:t>KIWI's design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697480"/>
            <a:ext cx="32918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900" b="0" i="0">
                <a:solidFill>
                  <a:srgbClr val="10231A"/>
                </a:solidFill>
                <a:latin typeface="Segoe UI"/>
              </a:rPr>
              <a:t>Every security claim must be backed by evidence —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900" b="0" i="0">
                <a:solidFill>
                  <a:srgbClr val="10231A"/>
                </a:solidFill>
                <a:latin typeface="Segoe UI"/>
              </a:rPr>
              <a:t>and when the evidence isn't there, the UI says so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900" b="0" i="0">
                <a:solidFill>
                  <a:srgbClr val="10231A"/>
                </a:solidFill>
                <a:latin typeface="Segoe UI"/>
              </a:rPr>
              <a:t>instead of painting a fake green.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000" b="0" i="0">
                <a:solidFill>
                  <a:srgbClr val="5F6B66"/>
                </a:solidFill>
                <a:latin typeface="Segoe UI"/>
              </a:rPr>
              <a:t>KIWI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146304" cy="65836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 i="0">
                <a:solidFill>
                  <a:srgbClr val="146A2E"/>
                </a:solidFill>
                <a:latin typeface="Segoe U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400" b="1" i="0">
                <a:solidFill>
                  <a:srgbClr val="10231A"/>
                </a:solidFill>
                <a:latin typeface="Segoe UI"/>
              </a:rPr>
              <a:t>One app: a real mail client + a security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5212080" cy="4434840"/>
          </a:xfrm>
          <a:prstGeom prst="roundRect">
            <a:avLst>
              <a:gd name="adj" fmla="val 6000"/>
            </a:avLst>
          </a:prstGeom>
          <a:solidFill>
            <a:srgbClr val="F1F7F3"/>
          </a:solidFill>
          <a:ln w="12700">
            <a:solidFill>
              <a:srgbClr val="D5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0116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900" b="1" i="0">
                <a:solidFill>
                  <a:srgbClr val="146A2E"/>
                </a:solidFill>
                <a:latin typeface="Segoe UI"/>
              </a:rPr>
              <a:t>On the surface — a mail client you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06040"/>
            <a:ext cx="46177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60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600" b="0" i="0">
                <a:solidFill>
                  <a:srgbClr val="10231A"/>
                </a:solidFill>
                <a:latin typeface="Segoe UI"/>
              </a:rPr>
              <a:t>Four-pane mailbox, unified inbox across accounts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60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600" b="0" i="0">
                <a:solidFill>
                  <a:srgbClr val="10231A"/>
                </a:solidFill>
                <a:latin typeface="Segoe UI"/>
              </a:rPr>
              <a:t>Compose with undo-send, send-later, templates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60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600" b="0" i="0">
                <a:solidFill>
                  <a:srgbClr val="10231A"/>
                </a:solidFill>
                <a:latin typeface="Segoe UI"/>
              </a:rPr>
              <a:t>FTS5 search, contacts, attachments, rules, snooze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60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600" b="0" i="0">
                <a:solidFill>
                  <a:srgbClr val="10231A"/>
                </a:solidFill>
                <a:latin typeface="Segoe UI"/>
              </a:rPr>
              <a:t>Multiple accounts — Gmail OAuth2 included — themes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783080"/>
            <a:ext cx="5212080" cy="4434840"/>
          </a:xfrm>
          <a:prstGeom prst="roundRect">
            <a:avLst>
              <a:gd name="adj" fmla="val 6000"/>
            </a:avLst>
          </a:prstGeom>
          <a:solidFill>
            <a:srgbClr val="10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900" b="1" i="0">
                <a:solidFill>
                  <a:srgbClr val="9FE6B8"/>
                </a:solidFill>
                <a:latin typeface="Segoe UI"/>
              </a:rPr>
              <a:t>Underneath — security work most clients skip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06040"/>
            <a:ext cx="46177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600" b="1" i="0">
                <a:solidFill>
                  <a:srgbClr val="9FE6B8"/>
                </a:solidFill>
                <a:latin typeface="Segoe UI"/>
              </a:rPr>
              <a:t>— </a:t>
            </a:r>
            <a:r>
              <a:rPr sz="1600" b="0" i="0">
                <a:solidFill>
                  <a:srgbClr val="E4EEE8"/>
                </a:solidFill>
                <a:latin typeface="Segoe UI"/>
              </a:rPr>
              <a:t>Every SMTP / IMAP / POP3 connection captured at the protocol layer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600" b="1" i="0">
                <a:solidFill>
                  <a:srgbClr val="9FE6B8"/>
                </a:solidFill>
                <a:latin typeface="Segoe UI"/>
              </a:rPr>
              <a:t>— </a:t>
            </a:r>
            <a:r>
              <a:rPr sz="1600" b="0" i="0">
                <a:solidFill>
                  <a:srgbClr val="E4EEE8"/>
                </a:solidFill>
                <a:latin typeface="Segoe UI"/>
              </a:rPr>
              <a:t>Scored by deterministic rules — no invented findings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600" b="1" i="0">
                <a:solidFill>
                  <a:srgbClr val="9FE6B8"/>
                </a:solidFill>
                <a:latin typeface="Segoe UI"/>
              </a:rPr>
              <a:t>— </a:t>
            </a:r>
            <a:r>
              <a:rPr sz="1600" b="0" i="0">
                <a:solidFill>
                  <a:srgbClr val="E4EEE8"/>
                </a:solidFill>
                <a:latin typeface="Segoe UI"/>
              </a:rPr>
              <a:t>Recorded as tamper-evident evidence, hash-chained on disk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600" b="1" i="0">
                <a:solidFill>
                  <a:srgbClr val="9FE6B8"/>
                </a:solidFill>
                <a:latin typeface="Segoe UI"/>
              </a:rPr>
              <a:t>— </a:t>
            </a:r>
            <a:r>
              <a:rPr sz="1600" b="0" i="0">
                <a:solidFill>
                  <a:srgbClr val="E4EEE8"/>
                </a:solidFill>
                <a:latin typeface="Segoe UI"/>
              </a:rPr>
              <a:t>Not a Thunderbird or Mailspring fork — built from scratch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000" b="0" i="0">
                <a:solidFill>
                  <a:srgbClr val="5F6B66"/>
                </a:solidFill>
                <a:latin typeface="Segoe UI"/>
              </a:rPr>
              <a:t>KIWI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146304" cy="65836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 i="0">
                <a:solidFill>
                  <a:srgbClr val="146A2E"/>
                </a:solidFill>
                <a:latin typeface="Segoe UI"/>
              </a:rPr>
              <a:t>THE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400" b="1" i="0">
                <a:solidFill>
                  <a:srgbClr val="10231A"/>
                </a:solidFill>
                <a:latin typeface="Segoe UI"/>
              </a:rPr>
              <a:t>Four-pane mailbox, honest by design</a:t>
            </a:r>
          </a:p>
        </p:txBody>
      </p:sp>
      <p:pic>
        <p:nvPicPr>
          <p:cNvPr id="5" name="Picture 4" descr="mail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5920"/>
            <a:ext cx="6893169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81889" y="1645920"/>
            <a:ext cx="3926926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500" b="1" i="0">
                <a:solidFill>
                  <a:srgbClr val="146A2E"/>
                </a:solidFill>
                <a:latin typeface="Segoe UI"/>
              </a:rPr>
              <a:t>Unified inbox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50" b="0" i="0">
                <a:solidFill>
                  <a:srgbClr val="10231A"/>
                </a:solidFill>
                <a:latin typeface="Segoe UI"/>
              </a:rPr>
              <a:t>across accounts — Gmail OAuth2, IMAP, POP3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600" b="0" i="0">
                <a:solidFill>
                  <a:srgbClr val="10231A"/>
                </a:solidFill>
                <a:latin typeface="Segoe UI"/>
              </a:rPr>
              <a:t> 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500" b="1" i="0">
                <a:solidFill>
                  <a:srgbClr val="146A2E"/>
                </a:solidFill>
                <a:latin typeface="Segoe UI"/>
              </a:rPr>
              <a:t>Per-message trust stamps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50" b="0" i="0">
                <a:solidFill>
                  <a:srgbClr val="10231A"/>
                </a:solidFill>
                <a:latin typeface="Segoe UI"/>
              </a:rPr>
              <a:t>risk + auth evidence attached at ingest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600" b="0" i="0">
                <a:solidFill>
                  <a:srgbClr val="10231A"/>
                </a:solidFill>
                <a:latin typeface="Segoe UI"/>
              </a:rPr>
              <a:t> 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500" b="1" i="0">
                <a:solidFill>
                  <a:srgbClr val="146A2E"/>
                </a:solidFill>
                <a:latin typeface="Segoe UI"/>
              </a:rPr>
              <a:t>Agenda rail + quick actions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50" b="0" i="0">
                <a:solidFill>
                  <a:srgbClr val="10231A"/>
                </a:solidFill>
                <a:latin typeface="Segoe UI"/>
              </a:rPr>
              <a:t>keyboard-first, snooze, templates, drag-to-folder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600" b="0" i="0">
                <a:solidFill>
                  <a:srgbClr val="10231A"/>
                </a:solidFill>
                <a:latin typeface="Segoe UI"/>
              </a:rPr>
              <a:t> 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500" b="1" i="0">
                <a:solidFill>
                  <a:srgbClr val="146A2E"/>
                </a:solidFill>
                <a:latin typeface="Segoe UI"/>
              </a:rPr>
              <a:t>Themes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50" b="0" i="0">
                <a:solidFill>
                  <a:srgbClr val="10231A"/>
                </a:solidFill>
                <a:latin typeface="Segoe UI"/>
              </a:rPr>
              <a:t>light / dark / high-contrast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000" b="0" i="0">
                <a:solidFill>
                  <a:srgbClr val="5F6B66"/>
                </a:solidFill>
                <a:latin typeface="Segoe UI"/>
              </a:rPr>
              <a:t>KIWI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146304" cy="65836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 i="0">
                <a:solidFill>
                  <a:srgbClr val="146A2E"/>
                </a:solidFill>
                <a:latin typeface="Segoe UI"/>
              </a:rPr>
              <a:t>WHO IT SERVES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400" b="1" i="0">
                <a:solidFill>
                  <a:srgbClr val="10231A"/>
                </a:solidFill>
                <a:latin typeface="Segoe UI"/>
              </a:rPr>
              <a:t>Three audiences, one binary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3520440" cy="4480560"/>
          </a:xfrm>
          <a:prstGeom prst="roundRect">
            <a:avLst>
              <a:gd name="adj" fmla="val 6000"/>
            </a:avLst>
          </a:prstGeom>
          <a:solidFill>
            <a:srgbClr val="F1F7F3"/>
          </a:solidFill>
          <a:ln w="12700">
            <a:solidFill>
              <a:srgbClr val="D5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900" b="1" i="0">
                <a:solidFill>
                  <a:srgbClr val="146A2E"/>
                </a:solidFill>
                <a:latin typeface="Segoe UI"/>
              </a:rPr>
              <a:t>The everyday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5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450" b="0" i="0">
                <a:solidFill>
                  <a:srgbClr val="10231A"/>
                </a:solidFill>
                <a:latin typeface="Segoe UI"/>
              </a:rPr>
              <a:t>A polished, complete mail client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5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450" b="0" i="0">
                <a:solidFill>
                  <a:srgbClr val="10231A"/>
                </a:solidFill>
                <a:latin typeface="Segoe UI"/>
              </a:rPr>
              <a:t>Honest indicators instead of scareware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5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450" b="0" i="0">
                <a:solidFill>
                  <a:srgbClr val="10231A"/>
                </a:solidFill>
                <a:latin typeface="Segoe UI"/>
              </a:rPr>
              <a:t>Absent data renders absent — never a fake green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45152" y="1783080"/>
            <a:ext cx="3520440" cy="4480560"/>
          </a:xfrm>
          <a:prstGeom prst="roundRect">
            <a:avLst>
              <a:gd name="adj" fmla="val 6000"/>
            </a:avLst>
          </a:prstGeom>
          <a:solidFill>
            <a:srgbClr val="F1F7F3"/>
          </a:solidFill>
          <a:ln w="12700">
            <a:solidFill>
              <a:srgbClr val="D5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205740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900" b="1" i="0">
                <a:solidFill>
                  <a:srgbClr val="146A2E"/>
                </a:solidFill>
                <a:latin typeface="Segoe UI"/>
              </a:rPr>
              <a:t>The security professional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9472" y="2743200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5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450" b="0" i="0">
                <a:solidFill>
                  <a:srgbClr val="10231A"/>
                </a:solidFill>
                <a:latin typeface="Segoe UI"/>
              </a:rPr>
              <a:t>Deterministic TlsObservation per session — TLS version, cipher, key exchange, forward secrecy, cert chain, STARTTLS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5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450" b="0" i="0">
                <a:solidFill>
                  <a:srgbClr val="10231A"/>
                </a:solidFill>
                <a:latin typeface="Segoe UI"/>
              </a:rPr>
              <a:t>Captured, not inferred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5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450" b="0" i="0">
                <a:solidFill>
                  <a:srgbClr val="10231A"/>
                </a:solidFill>
                <a:latin typeface="Segoe UI"/>
              </a:rPr>
              <a:t>SPF / DKIM / DMARC over fail-closed DNS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21624" y="1783080"/>
            <a:ext cx="3520440" cy="4480560"/>
          </a:xfrm>
          <a:prstGeom prst="roundRect">
            <a:avLst>
              <a:gd name="adj" fmla="val 6000"/>
            </a:avLst>
          </a:prstGeom>
          <a:solidFill>
            <a:srgbClr val="F1F7F3"/>
          </a:solidFill>
          <a:ln w="12700">
            <a:solidFill>
              <a:srgbClr val="D5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05740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900" b="1" i="0">
                <a:solidFill>
                  <a:srgbClr val="146A2E"/>
                </a:solidFill>
                <a:latin typeface="Segoe UI"/>
              </a:rPr>
              <a:t>The organization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5944" y="2743200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5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450" b="0" i="0">
                <a:solidFill>
                  <a:srgbClr val="10231A"/>
                </a:solidFill>
                <a:latin typeface="Segoe UI"/>
              </a:rPr>
              <a:t>Admin plane: orgs, domains, users, roles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5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450" b="0" i="0">
                <a:solidFill>
                  <a:srgbClr val="10231A"/>
                </a:solidFill>
                <a:latin typeface="Segoe UI"/>
              </a:rPr>
              <a:t>Recipient-domain policy + mail-flow metadata — never message bodies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5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450" b="0" i="0">
                <a:solidFill>
                  <a:srgbClr val="10231A"/>
                </a:solidFill>
                <a:latin typeface="Segoe UI"/>
              </a:rPr>
              <a:t>Its own audit trail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000" b="0" i="0">
                <a:solidFill>
                  <a:srgbClr val="5F6B66"/>
                </a:solidFill>
                <a:latin typeface="Segoe UI"/>
              </a:rPr>
              <a:t>KIWI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146304" cy="65836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 i="0">
                <a:solidFill>
                  <a:srgbClr val="146A2E"/>
                </a:solidFill>
                <a:latin typeface="Segoe UI"/>
              </a:rPr>
              <a:t>WHY IT'S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400" b="1" i="0">
                <a:solidFill>
                  <a:srgbClr val="10231A"/>
                </a:solidFill>
                <a:latin typeface="Segoe UI"/>
              </a:rPr>
              <a:t>Four claims other clients can't make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37360"/>
            <a:ext cx="566928" cy="932688"/>
          </a:xfrm>
          <a:prstGeom prst="roundRect">
            <a:avLst>
              <a:gd name="adj" fmla="val 6000"/>
            </a:avLst>
          </a:prstGeom>
          <a:solidFill>
            <a:srgbClr val="14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65376"/>
            <a:ext cx="5669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00784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900" b="1" i="0">
                <a:solidFill>
                  <a:srgbClr val="10231A"/>
                </a:solidFill>
                <a:latin typeface="Segoe UI"/>
              </a:rPr>
              <a:t>Deterministic evidence, not vibes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84832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50" b="0" i="0">
                <a:solidFill>
                  <a:srgbClr val="5F6B66"/>
                </a:solidFill>
                <a:latin typeface="Segoe UI"/>
              </a:rPr>
              <a:t>Every connection yields a TlsObservation — real TLS facts at the protocol layer. kiwi-forensics turns sessions into findings; no score exists without a rule behind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816352"/>
            <a:ext cx="566928" cy="932688"/>
          </a:xfrm>
          <a:prstGeom prst="roundRect">
            <a:avLst>
              <a:gd name="adj" fmla="val 6000"/>
            </a:avLst>
          </a:prstGeom>
          <a:solidFill>
            <a:srgbClr val="14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44368"/>
            <a:ext cx="5669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77977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900" b="1" i="0">
                <a:solidFill>
                  <a:srgbClr val="10231A"/>
                </a:solidFill>
                <a:latin typeface="Segoe UI"/>
              </a:rPr>
              <a:t>The lock is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163824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50" b="0" i="0">
                <a:solidFill>
                  <a:srgbClr val="5F6B66"/>
                </a:solidFill>
                <a:latin typeface="Segoe UI"/>
              </a:rPr>
              <a:t>Suspicious signals feed a trust engine. When trust drops, the endpoint locks — enforced in Rust IPC across the entire command surface, not just a UI overlay. A compromised renderer can't bypass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895344"/>
            <a:ext cx="566928" cy="932688"/>
          </a:xfrm>
          <a:prstGeom prst="roundRect">
            <a:avLst>
              <a:gd name="adj" fmla="val 6000"/>
            </a:avLst>
          </a:prstGeom>
          <a:solidFill>
            <a:srgbClr val="14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5669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858768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900" b="1" i="0">
                <a:solidFill>
                  <a:srgbClr val="10231A"/>
                </a:solidFill>
                <a:latin typeface="Segoe UI"/>
              </a:rPr>
              <a:t>Tamper-evident 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242816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50" b="0" i="0">
                <a:solidFill>
                  <a:srgbClr val="5F6B66"/>
                </a:solidFill>
                <a:latin typeface="Segoe UI"/>
              </a:rPr>
              <a:t>Every mutation lands in a hash-chained audit.jsonl, genesis-verified on open. Corruption surfaces as audit-corrupt in the UI instead of being hidden.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974336"/>
            <a:ext cx="566928" cy="932688"/>
          </a:xfrm>
          <a:prstGeom prst="roundRect">
            <a:avLst>
              <a:gd name="adj" fmla="val 6000"/>
            </a:avLst>
          </a:prstGeom>
          <a:solidFill>
            <a:srgbClr val="14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02352"/>
            <a:ext cx="5669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937760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900" b="1" i="0">
                <a:solidFill>
                  <a:srgbClr val="10231A"/>
                </a:solidFill>
                <a:latin typeface="Segoe UI"/>
              </a:rPr>
              <a:t>Fail closed over fabricate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32180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50" b="0" i="0">
                <a:solidFill>
                  <a:srgbClr val="5F6B66"/>
                </a:solidFill>
                <a:latin typeface="Segoe UI"/>
              </a:rPr>
              <a:t>Absent data renders absent. A missing backend disables the action and says so. No placeholder signatures, no fabricated green — ever.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6099048"/>
            <a:ext cx="10469880" cy="566928"/>
          </a:xfrm>
          <a:prstGeom prst="roundRect">
            <a:avLst>
              <a:gd name="adj" fmla="val 6000"/>
            </a:avLst>
          </a:prstGeom>
          <a:solidFill>
            <a:srgbClr val="F1F7F3"/>
          </a:solidFill>
          <a:ln w="12700">
            <a:solidFill>
              <a:srgbClr val="D5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61996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500" b="1" i="0">
                <a:solidFill>
                  <a:srgbClr val="146A2E"/>
                </a:solidFill>
                <a:latin typeface="Segoe UI"/>
              </a:rPr>
              <a:t>AI explains, never asserts.  </a:t>
            </a:r>
            <a:r>
              <a:rPr sz="1450" b="0" i="0">
                <a:solidFill>
                  <a:srgbClr val="10231A"/>
                </a:solidFill>
                <a:latin typeface="Segoe UI"/>
              </a:rPr>
              <a:t>AI may translate a finding into plain language — it never decides a verdict. The deterministic rule engine is the only authority.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000" b="0" i="0">
                <a:solidFill>
                  <a:srgbClr val="5F6B66"/>
                </a:solidFill>
                <a:latin typeface="Segoe UI"/>
              </a:rPr>
              <a:t>KIWI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146304" cy="65836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 i="0">
                <a:solidFill>
                  <a:srgbClr val="146A2E"/>
                </a:solidFill>
                <a:latin typeface="Segoe UI"/>
              </a:rPr>
              <a:t>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400" b="1" i="0">
                <a:solidFill>
                  <a:srgbClr val="10231A"/>
                </a:solidFill>
                <a:latin typeface="Segoe UI"/>
              </a:rPr>
              <a:t>What happens when you click a link in KIWI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65960"/>
            <a:ext cx="1984248" cy="1371600"/>
          </a:xfrm>
          <a:prstGeom prst="roundRect">
            <a:avLst>
              <a:gd name="adj" fmla="val 6000"/>
            </a:avLst>
          </a:prstGeom>
          <a:solidFill>
            <a:srgbClr val="F1F7F3"/>
          </a:solidFill>
          <a:ln w="12700">
            <a:solidFill>
              <a:srgbClr val="D5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2103120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700" b="1" i="0">
                <a:solidFill>
                  <a:srgbClr val="146A2E"/>
                </a:solidFill>
                <a:latin typeface="Segoe UI"/>
              </a:rPr>
              <a:t>stamps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" y="2487168"/>
            <a:ext cx="1691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150" b="0" i="0">
                <a:solidFill>
                  <a:srgbClr val="10231A"/>
                </a:solidFill>
                <a:latin typeface="Segoe UI"/>
              </a:rPr>
              <a:t>risk + auth stamps attached at 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3957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000" b="1" i="0">
                <a:solidFill>
                  <a:srgbClr val="1E8E3E"/>
                </a:solidFill>
                <a:latin typeface="Segoe U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35808" y="1965960"/>
            <a:ext cx="1984248" cy="1371600"/>
          </a:xfrm>
          <a:prstGeom prst="roundRect">
            <a:avLst>
              <a:gd name="adj" fmla="val 6000"/>
            </a:avLst>
          </a:prstGeom>
          <a:solidFill>
            <a:srgbClr val="F1F7F3"/>
          </a:solidFill>
          <a:ln w="12700">
            <a:solidFill>
              <a:srgbClr val="D5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82112" y="2103120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700" b="1" i="0">
                <a:solidFill>
                  <a:srgbClr val="146A2E"/>
                </a:solidFill>
                <a:latin typeface="Segoe UI"/>
              </a:rPr>
              <a:t>hints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2487168"/>
            <a:ext cx="1691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150" b="0" i="0">
                <a:solidFill>
                  <a:srgbClr val="10231A"/>
                </a:solidFill>
                <a:latin typeface="Segoe UI"/>
              </a:rPr>
              <a:t>per-message evidence read at render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23957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000" b="1" i="0">
                <a:solidFill>
                  <a:srgbClr val="1E8E3E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02936" y="1965960"/>
            <a:ext cx="1984248" cy="1371600"/>
          </a:xfrm>
          <a:prstGeom prst="roundRect">
            <a:avLst>
              <a:gd name="adj" fmla="val 6000"/>
            </a:avLst>
          </a:prstGeom>
          <a:solidFill>
            <a:srgbClr val="F1F7F3"/>
          </a:solidFill>
          <a:ln w="12700">
            <a:solidFill>
              <a:srgbClr val="D5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2103120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700" b="1" i="0">
                <a:solidFill>
                  <a:srgbClr val="146A2E"/>
                </a:solidFill>
                <a:latin typeface="Segoe UI"/>
              </a:rPr>
              <a:t>click-gate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487168"/>
            <a:ext cx="1691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150" b="0" i="0">
                <a:solidFill>
                  <a:srgbClr val="10231A"/>
                </a:solidFill>
                <a:latin typeface="Segoe UI"/>
              </a:rPr>
              <a:t>verdict: allow · confirm · sandbox · deny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6" y="23957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000" b="1" i="0">
                <a:solidFill>
                  <a:srgbClr val="1E8E3E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0064" y="1965960"/>
            <a:ext cx="1984248" cy="1371600"/>
          </a:xfrm>
          <a:prstGeom prst="roundRect">
            <a:avLst>
              <a:gd name="adj" fmla="val 6000"/>
            </a:avLst>
          </a:prstGeom>
          <a:solidFill>
            <a:srgbClr val="F1F7F3"/>
          </a:solidFill>
          <a:ln w="12700">
            <a:solidFill>
              <a:srgbClr val="D5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8" y="2103120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700" b="1" i="0">
                <a:solidFill>
                  <a:srgbClr val="146A2E"/>
                </a:solidFill>
                <a:latin typeface="Segoe UI"/>
              </a:rPr>
              <a:t>sandbox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2487168"/>
            <a:ext cx="1691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150" b="0" i="0">
                <a:solidFill>
                  <a:srgbClr val="10231A"/>
                </a:solidFill>
                <a:latin typeface="Segoe UI"/>
              </a:rPr>
              <a:t>risky links open in a disposable WSL2 guest — torn down before the session is recorded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23957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000" b="1" i="0">
                <a:solidFill>
                  <a:srgbClr val="1E8E3E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37192" y="1965960"/>
            <a:ext cx="1984248" cy="1371600"/>
          </a:xfrm>
          <a:prstGeom prst="roundRect">
            <a:avLst>
              <a:gd name="adj" fmla="val 6000"/>
            </a:avLst>
          </a:prstGeom>
          <a:solidFill>
            <a:srgbClr val="F1F7F3"/>
          </a:solidFill>
          <a:ln w="12700">
            <a:solidFill>
              <a:srgbClr val="D5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83496" y="2103120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700" b="1" i="0">
                <a:solidFill>
                  <a:srgbClr val="146A2E"/>
                </a:solidFill>
                <a:latin typeface="Segoe UI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3496" y="2487168"/>
            <a:ext cx="1691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150" b="0" i="0">
                <a:solidFill>
                  <a:srgbClr val="10231A"/>
                </a:solidFill>
                <a:latin typeface="Segoe UI"/>
              </a:rPr>
              <a:t>every step lands in the audit 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79476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60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600" b="1" i="0">
                <a:solidFill>
                  <a:srgbClr val="10231A"/>
                </a:solidFill>
                <a:latin typeface="Segoe UI"/>
              </a:rPr>
              <a:t>Re-openable, not bypassable. </a:t>
            </a:r>
            <a:r>
              <a:rPr sz="1600" b="0" i="0">
                <a:solidFill>
                  <a:srgbClr val="10231A"/>
                </a:solidFill>
                <a:latin typeface="Segoe UI"/>
              </a:rPr>
              <a:t>Opening a link again re-checks the source risk — the gate can't be cached around.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60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600" b="1" i="0">
                <a:solidFill>
                  <a:srgbClr val="10231A"/>
                </a:solidFill>
                <a:latin typeface="Segoe UI"/>
              </a:rPr>
              <a:t>Verifiable reports. </a:t>
            </a:r>
            <a:r>
              <a:rPr sz="1600" b="0" i="0">
                <a:solidFill>
                  <a:srgbClr val="10231A"/>
                </a:solidFill>
                <a:latin typeface="Segoe UI"/>
              </a:rPr>
              <a:t>Forensics reports export as canonical bytes in a self-verifying SHA-256 envelope — you can prove the report wasn't altered after the fact.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000" b="0" i="0">
                <a:solidFill>
                  <a:srgbClr val="5F6B66"/>
                </a:solidFill>
                <a:latin typeface="Segoe UI"/>
              </a:rPr>
              <a:t>KIWI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146304" cy="65836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 i="0">
                <a:solidFill>
                  <a:srgbClr val="146A2E"/>
                </a:solidFill>
                <a:latin typeface="Segoe U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400" b="1" i="0">
                <a:solidFill>
                  <a:srgbClr val="10231A"/>
                </a:solidFill>
                <a:latin typeface="Segoe UI"/>
              </a:rPr>
              <a:t>Untrusted webview, trustworthy core</a:t>
            </a:r>
          </a:p>
        </p:txBody>
      </p:sp>
      <p:pic>
        <p:nvPicPr>
          <p:cNvPr id="5" name="Picture 4" descr="kiwi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40" y="1463040"/>
            <a:ext cx="7873815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9848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000" b="0" i="0">
                <a:solidFill>
                  <a:srgbClr val="5F6B66"/>
                </a:solidFill>
                <a:latin typeface="Segoe UI"/>
              </a:rPr>
              <a:t>KIWI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146304" cy="65836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 i="0">
                <a:solidFill>
                  <a:srgbClr val="146A2E"/>
                </a:solidFill>
                <a:latin typeface="Segoe UI"/>
              </a:rPr>
              <a:t>THE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400" b="1" i="0">
                <a:solidFill>
                  <a:srgbClr val="10231A"/>
                </a:solidFill>
                <a:latin typeface="Segoe UI"/>
              </a:rPr>
              <a:t>Tauri 2 · Rust workspace · typed lock-gated IPC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900" b="1" i="0">
                <a:solidFill>
                  <a:srgbClr val="146A2E"/>
                </a:solidFill>
                <a:latin typeface="Segoe UI"/>
              </a:rPr>
              <a:t>Desktop — Tauri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53035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50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500" b="0" i="0">
                <a:solidFill>
                  <a:srgbClr val="10231A"/>
                </a:solidFill>
                <a:latin typeface="Segoe UI"/>
              </a:rPr>
              <a:t>Rust host + React 18 / TS / Vite renderer — the webview is untrusted by design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50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500" b="0" i="0">
                <a:solidFill>
                  <a:srgbClr val="10231A"/>
                </a:solidFill>
                <a:latin typeface="Segoe UI"/>
              </a:rPr>
              <a:t>Every typed kiwi_* IPC command validates input, runs the lock gate, writes audit evidence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50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500" b="0" i="0">
                <a:solidFill>
                  <a:srgbClr val="10231A"/>
                </a:solidFill>
                <a:latin typeface="Segoe UI"/>
              </a:rPr>
              <a:t>Secrets live only in the OS credential store; unsafe_code forbidden workspace-wide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64592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900" b="1" i="0">
                <a:solidFill>
                  <a:srgbClr val="146A2E"/>
                </a:solidFill>
                <a:latin typeface="Segoe UI"/>
              </a:rPr>
              <a:t>Rust 2024 workspace — ten crates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103120"/>
            <a:ext cx="5074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40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400" b="1" i="0">
                <a:solidFill>
                  <a:srgbClr val="10231A"/>
                </a:solidFill>
                <a:latin typeface="Segoe UI"/>
              </a:rPr>
              <a:t>kiwi-mail </a:t>
            </a:r>
            <a:r>
              <a:rPr sz="1400" b="0" i="0">
                <a:solidFill>
                  <a:srgbClr val="10231A"/>
                </a:solidFill>
                <a:latin typeface="Segoe UI"/>
              </a:rPr>
              <a:t>real SMTP·IMAP·POP3, MIME, SQLite+FTS5, rules, mbox, TLS capture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40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400" b="1" i="0">
                <a:solidFill>
                  <a:srgbClr val="10231A"/>
                </a:solidFill>
                <a:latin typeface="Segoe UI"/>
              </a:rPr>
              <a:t>kiwi-core · kiwi-pair </a:t>
            </a:r>
            <a:r>
              <a:rPr sz="1400" b="0" i="0">
                <a:solidFill>
                  <a:srgbClr val="10231A"/>
                </a:solidFill>
                <a:latin typeface="Segoe UI"/>
              </a:rPr>
              <a:t>trust engine, device identity, QR pairing authority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40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400" b="1" i="0">
                <a:solidFill>
                  <a:srgbClr val="10231A"/>
                </a:solidFill>
                <a:latin typeface="Segoe UI"/>
              </a:rPr>
              <a:t>kiwi-forensics · kiwi-mailauth </a:t>
            </a:r>
            <a:r>
              <a:rPr sz="1400" b="0" i="0">
                <a:solidFill>
                  <a:srgbClr val="10231A"/>
                </a:solidFill>
                <a:latin typeface="Segoe UI"/>
              </a:rPr>
              <a:t>PCAP reassembly + scoring; SPF/DKIM/DMARC on fail-closed DNS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40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400" b="1" i="0">
                <a:solidFill>
                  <a:srgbClr val="10231A"/>
                </a:solidFill>
                <a:latin typeface="Segoe UI"/>
              </a:rPr>
              <a:t>kiwi-sandbox · kiwi-integrations · kiwi-autoconfig · kiwi-contacts </a:t>
            </a:r>
            <a:r>
              <a:rPr sz="1400" b="0" i="0">
                <a:solidFill>
                  <a:srgbClr val="10231A"/>
                </a:solidFill>
                <a:latin typeface="Segoe UI"/>
              </a:rPr>
              <a:t>WSL2 guest, consent-bounded services, OAuth2 discovery, vCard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400" b="1" i="0">
                <a:solidFill>
                  <a:srgbClr val="146A2E"/>
                </a:solidFill>
                <a:latin typeface="Segoe UI"/>
              </a:rPr>
              <a:t>— </a:t>
            </a:r>
            <a:r>
              <a:rPr sz="1400" b="1" i="0">
                <a:solidFill>
                  <a:srgbClr val="10231A"/>
                </a:solidFill>
                <a:latin typeface="Segoe UI"/>
              </a:rPr>
              <a:t>kiwi-app </a:t>
            </a:r>
            <a:r>
              <a:rPr sz="1400" b="0" i="0">
                <a:solidFill>
                  <a:srgbClr val="10231A"/>
                </a:solidFill>
                <a:latin typeface="Segoe UI"/>
              </a:rPr>
              <a:t>~25 IPC command modules, audit chain, syncer, notifications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623560"/>
            <a:ext cx="10469880" cy="685800"/>
          </a:xfrm>
          <a:prstGeom prst="roundRect">
            <a:avLst>
              <a:gd name="adj" fmla="val 6000"/>
            </a:avLst>
          </a:prstGeom>
          <a:solidFill>
            <a:srgbClr val="F1F7F3"/>
          </a:solidFill>
          <a:ln w="12700">
            <a:solidFill>
              <a:srgbClr val="D5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742432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 i="0">
                <a:solidFill>
                  <a:srgbClr val="146A2E"/>
                </a:solidFill>
                <a:latin typeface="Segoe UI"/>
              </a:rPr>
              <a:t>Sidecars:  </a:t>
            </a:r>
            <a:r>
              <a:rPr sz="1350" b="0" i="0">
                <a:solidFill>
                  <a:srgbClr val="10231A"/>
                </a:solidFill>
                <a:latin typeface="Segoe UI"/>
              </a:rPr>
              <a:t>kiwi-admin (Node + Drizzle + PostgreSQL org plane, React admin UI) · React Native authenticator for QR-paired approvals   |   </a:t>
            </a:r>
            <a:r>
              <a:rPr sz="1400" b="1" i="0">
                <a:solidFill>
                  <a:srgbClr val="146A2E"/>
                </a:solidFill>
                <a:latin typeface="Segoe UI"/>
              </a:rPr>
              <a:t>Dev/CI:  </a:t>
            </a:r>
            <a:r>
              <a:rPr sz="1350" b="0" i="0">
                <a:solidFill>
                  <a:srgbClr val="10231A"/>
                </a:solidFill>
                <a:latin typeface="Segoe UI"/>
              </a:rPr>
              <a:t>Docker mailpit + GreenMail · cargo test/clippy/fmt · tsc · vitest · CDP smoke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000" b="0" i="0">
                <a:solidFill>
                  <a:srgbClr val="5F6B66"/>
                </a:solidFill>
                <a:latin typeface="Segoe UI"/>
              </a:rPr>
              <a:t>KIWI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KIWI doesn't ask you to trust it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0604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000" b="1" i="0">
                <a:solidFill>
                  <a:srgbClr val="9FE6B8"/>
                </a:solidFill>
                <a:latin typeface="Segoe UI"/>
              </a:rPr>
              <a:t>it shows you the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3794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800" b="0" i="0">
                <a:solidFill>
                  <a:srgbClr val="C9D6CE"/>
                </a:solidFill>
                <a:latin typeface="Segoe UI"/>
              </a:rPr>
              <a:t>A real mail client for daily use. A security platform underneath. Every claim backed by deterministic, tamper-evident proof.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" y="4892040"/>
            <a:ext cx="4206240" cy="822960"/>
          </a:xfrm>
          <a:prstGeom prst="roundRect">
            <a:avLst>
              <a:gd name="adj" fmla="val 6000"/>
            </a:avLst>
          </a:prstGeom>
          <a:solidFill>
            <a:srgbClr val="14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507492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Email that proves its security.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50" b="0" i="0">
                <a:solidFill>
                  <a:srgbClr val="8B9990"/>
                </a:solidFill>
                <a:latin typeface="Segoe UI"/>
              </a:rPr>
              <a:t>Tauri 2 · Rust 2024 (unsafe forbidden) · React 18 · SQLite+FTS5 · SPF/DKIM/DMARC · WSL2 sandbox · hash-chained audit · MPL-2.0 · alpha, ~30 MB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